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4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I1iLbPnxWqf+feSaBXDxw/0OD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9BF8B7F-B3EC-43DE-A964-E0585CF35ABA}">
  <a:tblStyle styleId="{C9BF8B7F-B3EC-43DE-A964-E0585CF35AB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ChartSnapshot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ChartSnapshot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ChartSnapshot1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ChartSnapshot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solidFill>
                  <a:srgbClr val="12303B"/>
                </a:solidFill>
                <a:latin typeface="Arial"/>
                <a:ea typeface="Arial"/>
                <a:cs typeface="Arial"/>
              </a:rPr>
              <a:t>MLP · pérdida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12303B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Train</c:v>
          </c:tx>
          <c:spPr>
            <a:ln xmlns:a="http://schemas.openxmlformats.org/drawingml/2006/main" w="28575">
              <a:solidFill>
                <a:srgbClr val="64748B"/>
              </a:solidFill>
            </a:ln>
          </c:spPr>
          <c:marker>
            <c:symbol val="none"/>
          </c:marker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0.0</c:formatCode>
                <c:ptCount val="20"/>
                <c:pt idx="0">
                  <c:v>0.96206319</c:v>
                </c:pt>
                <c:pt idx="1">
                  <c:v>0.35700652</c:v>
                </c:pt>
                <c:pt idx="2">
                  <c:v>0.20767747</c:v>
                </c:pt>
                <c:pt idx="3">
                  <c:v>0.13187404</c:v>
                </c:pt>
                <c:pt idx="4">
                  <c:v>0.08713081</c:v>
                </c:pt>
                <c:pt idx="5">
                  <c:v>0.05214389</c:v>
                </c:pt>
                <c:pt idx="6">
                  <c:v>0.02977062</c:v>
                </c:pt>
                <c:pt idx="7">
                  <c:v>0.04430385</c:v>
                </c:pt>
                <c:pt idx="8">
                  <c:v>0.02727267</c:v>
                </c:pt>
                <c:pt idx="9">
                  <c:v>0.00918793</c:v>
                </c:pt>
                <c:pt idx="10">
                  <c:v>0.00651479</c:v>
                </c:pt>
                <c:pt idx="11">
                  <c:v>0.00561557</c:v>
                </c:pt>
                <c:pt idx="12">
                  <c:v>0.00374425</c:v>
                </c:pt>
                <c:pt idx="13">
                  <c:v>0.00325148</c:v>
                </c:pt>
                <c:pt idx="14">
                  <c:v>0.00337976</c:v>
                </c:pt>
                <c:pt idx="15">
                  <c:v>0.10313205</c:v>
                </c:pt>
                <c:pt idx="16">
                  <c:v>0.00523291</c:v>
                </c:pt>
                <c:pt idx="17">
                  <c:v>0.00270313</c:v>
                </c:pt>
                <c:pt idx="18">
                  <c:v>0.00201119</c:v>
                </c:pt>
                <c:pt idx="19">
                  <c:v>0.00157062</c:v>
                </c:pt>
              </c:numCache>
            </c:numRef>
          </c:val>
        </c:ser>
        <c:ser>
          <c:idx val="1"/>
          <c:order val="1"/>
          <c:tx>
            <c:v>Validación</c:v>
          </c:tx>
          <c:spPr>
            <a:ln xmlns:a="http://schemas.openxmlformats.org/drawingml/2006/main" w="28575">
              <a:solidFill>
                <a:srgbClr val="087F8C"/>
              </a:solidFill>
            </a:ln>
          </c:spPr>
          <c:marker>
            <c:symbol val="none"/>
          </c:marker>
          <c:cat>
            <c:numRef>
              <c:f>'Chart Data'!$C$2:$C$21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Data'!$D$2:$D$21</c:f>
              <c:numCache>
                <c:formatCode>0.0</c:formatCode>
                <c:ptCount val="20"/>
                <c:pt idx="0">
                  <c:v>0.56150049</c:v>
                </c:pt>
                <c:pt idx="1">
                  <c:v>0.27387762</c:v>
                </c:pt>
                <c:pt idx="2">
                  <c:v>0.21312389</c:v>
                </c:pt>
                <c:pt idx="3">
                  <c:v>0.13515387</c:v>
                </c:pt>
                <c:pt idx="4">
                  <c:v>0.05099535</c:v>
                </c:pt>
                <c:pt idx="5">
                  <c:v>0.0571019</c:v>
                </c:pt>
                <c:pt idx="6">
                  <c:v>0.03428974</c:v>
                </c:pt>
                <c:pt idx="7">
                  <c:v>0.16530038</c:v>
                </c:pt>
                <c:pt idx="8">
                  <c:v>0.01226427</c:v>
                </c:pt>
                <c:pt idx="9">
                  <c:v>0.0154432</c:v>
                </c:pt>
                <c:pt idx="10">
                  <c:v>0.00715291</c:v>
                </c:pt>
                <c:pt idx="11">
                  <c:v>0.00563256</c:v>
                </c:pt>
                <c:pt idx="12">
                  <c:v>0.00381479</c:v>
                </c:pt>
                <c:pt idx="13">
                  <c:v>0.00348677</c:v>
                </c:pt>
                <c:pt idx="14">
                  <c:v>0.06873686</c:v>
                </c:pt>
                <c:pt idx="15">
                  <c:v>0.00755442</c:v>
                </c:pt>
                <c:pt idx="16">
                  <c:v>0.00363054</c:v>
                </c:pt>
                <c:pt idx="17">
                  <c:v>0.00247236</c:v>
                </c:pt>
                <c:pt idx="18">
                  <c:v>0.00186044</c:v>
                </c:pt>
                <c:pt idx="19">
                  <c:v>0.00158036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Época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8FAFB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8FAFB"/>
    </a:solidFill>
  </c:spPr>
  <c:externalData r:id="rIdChartSnapshot1">
    <c:autoUpdate val="0"/>
  </c:externalData>
</c:chartSpace>
</file>

<file path=ppt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solidFill>
                  <a:srgbClr val="12303B"/>
                </a:solidFill>
                <a:latin typeface="Arial"/>
                <a:ea typeface="Arial"/>
                <a:cs typeface="Arial"/>
              </a:rPr>
              <a:t>CNN · pérdida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12303B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Train</c:v>
          </c:tx>
          <c:spPr>
            <a:ln xmlns:a="http://schemas.openxmlformats.org/drawingml/2006/main" w="28575">
              <a:solidFill>
                <a:srgbClr val="64748B"/>
              </a:solidFill>
            </a:ln>
          </c:spPr>
          <c:marker>
            <c:symbol val="none"/>
          </c:marker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0.0</c:formatCode>
                <c:ptCount val="20"/>
                <c:pt idx="0">
                  <c:v>0.80852336</c:v>
                </c:pt>
                <c:pt idx="1">
                  <c:v>0.09433376</c:v>
                </c:pt>
                <c:pt idx="2">
                  <c:v>0.02281932</c:v>
                </c:pt>
                <c:pt idx="3">
                  <c:v>0.0095519</c:v>
                </c:pt>
                <c:pt idx="4">
                  <c:v>0.00453284</c:v>
                </c:pt>
                <c:pt idx="5">
                  <c:v>0.0030123</c:v>
                </c:pt>
                <c:pt idx="6">
                  <c:v>0.00146707</c:v>
                </c:pt>
                <c:pt idx="7">
                  <c:v>0.00084695</c:v>
                </c:pt>
                <c:pt idx="8">
                  <c:v>0.00054817</c:v>
                </c:pt>
                <c:pt idx="9">
                  <c:v>0.00036003</c:v>
                </c:pt>
                <c:pt idx="10">
                  <c:v>0.00025397</c:v>
                </c:pt>
                <c:pt idx="11">
                  <c:v>0.00019803</c:v>
                </c:pt>
                <c:pt idx="12">
                  <c:v>0.00015549</c:v>
                </c:pt>
                <c:pt idx="13">
                  <c:v>0.00012534</c:v>
                </c:pt>
                <c:pt idx="14">
                  <c:v>9.922E-05</c:v>
                </c:pt>
                <c:pt idx="15">
                  <c:v>8.12E-05</c:v>
                </c:pt>
                <c:pt idx="16">
                  <c:v>6.997E-05</c:v>
                </c:pt>
                <c:pt idx="17">
                  <c:v>5.772E-05</c:v>
                </c:pt>
                <c:pt idx="18">
                  <c:v>4.943E-05</c:v>
                </c:pt>
                <c:pt idx="19">
                  <c:v>4.154E-05</c:v>
                </c:pt>
              </c:numCache>
            </c:numRef>
          </c:val>
        </c:ser>
        <c:ser>
          <c:idx val="1"/>
          <c:order val="1"/>
          <c:tx>
            <c:v>Validación</c:v>
          </c:tx>
          <c:spPr>
            <a:ln xmlns:a="http://schemas.openxmlformats.org/drawingml/2006/main" w="28575">
              <a:solidFill>
                <a:srgbClr val="087F8C"/>
              </a:solidFill>
            </a:ln>
          </c:spPr>
          <c:marker>
            <c:symbol val="none"/>
          </c:marker>
          <c:cat>
            <c:numRef>
              <c:f>'Chart Data'!$C$2:$C$21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Data'!$D$2:$D$21</c:f>
              <c:numCache>
                <c:formatCode>0.0</c:formatCode>
                <c:ptCount val="20"/>
                <c:pt idx="0">
                  <c:v>0.19853607</c:v>
                </c:pt>
                <c:pt idx="1">
                  <c:v>0.036631</c:v>
                </c:pt>
                <c:pt idx="2">
                  <c:v>0.01655752</c:v>
                </c:pt>
                <c:pt idx="3">
                  <c:v>0.0069066</c:v>
                </c:pt>
                <c:pt idx="4">
                  <c:v>0.00341717</c:v>
                </c:pt>
                <c:pt idx="5">
                  <c:v>0.00203979</c:v>
                </c:pt>
                <c:pt idx="6">
                  <c:v>0.00117749</c:v>
                </c:pt>
                <c:pt idx="7">
                  <c:v>0.00082305</c:v>
                </c:pt>
                <c:pt idx="8">
                  <c:v>0.00052379</c:v>
                </c:pt>
                <c:pt idx="9">
                  <c:v>0.00037248</c:v>
                </c:pt>
                <c:pt idx="10">
                  <c:v>0.00029608</c:v>
                </c:pt>
                <c:pt idx="11">
                  <c:v>0.00022344</c:v>
                </c:pt>
                <c:pt idx="12">
                  <c:v>0.00020103</c:v>
                </c:pt>
                <c:pt idx="13">
                  <c:v>0.00015067</c:v>
                </c:pt>
                <c:pt idx="14">
                  <c:v>0.00014116</c:v>
                </c:pt>
                <c:pt idx="15">
                  <c:v>0.00015893</c:v>
                </c:pt>
                <c:pt idx="16">
                  <c:v>0.00010568</c:v>
                </c:pt>
                <c:pt idx="17">
                  <c:v>8.292E-05</c:v>
                </c:pt>
                <c:pt idx="18">
                  <c:v>6.38E-05</c:v>
                </c:pt>
                <c:pt idx="19">
                  <c:v>5.696E-05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Época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8FAFB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8FAFB"/>
    </a:solidFill>
  </c:spPr>
  <c:externalData r:id="rIdChartSnapshot1">
    <c:autoUpdate val="0"/>
  </c:externalData>
</c:chartSpace>
</file>

<file path=ppt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latin typeface="Arial"/>
                <a:ea typeface="Arial"/>
                <a:cs typeface="Arial"/>
              </a:rPr>
              <a:t>Parámetros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parameters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Data'!$A$2:$A$3</c:f>
              <c:strCache>
                <c:ptCount val="2"/>
                <c:pt idx="0">
                  <c:v>MLP</c:v>
                </c:pt>
                <c:pt idx="1">
                  <c:v>CNN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109126</c:v>
                </c:pt>
                <c:pt idx="1">
                  <c:v>56454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30000"/>
          <c:min val="0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8FAFB"/>
        </a:solidFill>
      </c:spPr>
    </c:plotArea>
    <c:plotVisOnly val="1"/>
  </c:chart>
  <c:spPr>
    <a:solidFill xmlns:a="http://schemas.openxmlformats.org/drawingml/2006/main">
      <a:srgbClr val="F8FAFB"/>
    </a:solidFill>
  </c:spPr>
  <c:externalData r:id="rIdChartSnapshot1">
    <c:autoUpdate val="0"/>
  </c:externalData>
</c:chartSpace>
</file>

<file path=ppt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latin typeface="Arial"/>
                <a:ea typeface="Arial"/>
                <a:cs typeface="Arial"/>
              </a:rPr>
              <a:t>Tiempo de entrenamiento (s)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fit_seconds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Data'!$A$2:$A$3</c:f>
              <c:strCache>
                <c:ptCount val="2"/>
                <c:pt idx="0">
                  <c:v>MLP</c:v>
                </c:pt>
                <c:pt idx="1">
                  <c:v>CNN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23.85</c:v>
                </c:pt>
                <c:pt idx="1">
                  <c:v>27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8FAFB"/>
        </a:solidFill>
      </c:spPr>
    </c:plotArea>
    <c:plotVisOnly val="1"/>
  </c:chart>
  <c:spPr>
    <a:solidFill xmlns:a="http://schemas.openxmlformats.org/drawingml/2006/main">
      <a:srgbClr val="F8FAFB"/>
    </a:solidFill>
  </c:spPr>
  <c:externalData r:id="rIdChartSnapshot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Nicolás · 40 s. Presentar integrantes, curso y objetivo. Conservamos seis letras del caso E1 y evaluamos si una CNN mejora al MLP. Fuente: presentación E1 y pauta TLY1102-E2.</a:t>
            </a:r>
            <a:endParaRPr/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Nicolás · 45 s. Explicar la oportunidad educativa y el alcance. ASL no equivale a lengua de señas chilena. El resultado histórico es 87,03%, F1 0,8694 y 233 errores. Fuente: notebook y PPTX E1.</a:t>
            </a:r>
            <a:endParaRPr/>
          </a:p>
        </p:txBody>
      </p:sp>
      <p:sp>
        <p:nvSpPr>
          <p:cNvPr id="40" name="Google Shape;4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Nicolás · 50 s. Normalizamos una vez /255, recodificamos etiquetas y mantenemos test oficial separado. La partición estratificada 80/20 usa semilla 42. No hay duplicados exactos, pero no se puede verificar independencia por sujeto. Fuente: results/class_distribution.csv y data_quality.json.</a:t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Bastian · 65 s. Dos convoluciones 3×3 con pesos compartidos y ReLU. Dos max pooling 2×2 reducen tamaño. Valid evita padding artificial. Flatten no entrena parámetros. Dense 64 integra mapas y Softmax entrega seis probabilidades. Sin capas de regularización por la rúbrica. Fuente: notebook E2 §3.</a:t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Bastian · 55 s. Adam 0,001, sparse crossentropy, 20 épocas, batch 32. Ambas validaciones terminan en 100%. El MLP oscila en épocas 8 y 15. Esto no garantiza buen test: comparar brechas. Tiempos incluyen fit y validación. Fuente: results/history_*.csv.</a:t>
            </a:r>
            <a:endParaRPr/>
          </a:p>
        </p:txBody>
      </p:sp>
      <p:sp>
        <p:nvSpPr>
          <p:cNvPr id="70" name="Google Shape;7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Bastian · 65 s. Distinguir MLP histórico de MLP reentrenado. La comparación actual usa mismo entorno y datos. Explicar macro vs accuracy. Mejora de 9,46 puntos porcentuales y 170 errores menos. Fuente: results/metrics.csv, historical_e1.csv.</a:t>
            </a:r>
            <a:endParaRPr/>
          </a:p>
        </p:txBody>
      </p:sp>
      <p:sp>
        <p:nvSpPr>
          <p:cNvPr id="81" name="Google Shape;8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Bastian · 45 s. Menos pesos no significa menos operaciones. CNN tiene 48,27% menos parámetros pero tarda más en esta CPU. Brecha train-test cae de 12,19 a 2,73 puntos. Una corrida no mide variabilidad. Fuente: metrics.csv, environment.json.</a:t>
            </a:r>
            <a:endParaRPr/>
          </a:p>
        </p:txBody>
      </p:sp>
      <p:sp>
        <p:nvSpPr>
          <p:cNvPr id="91" name="Google Shape;9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Victor · 60 s. Filas reales, columnas predichas. O→K 20, O→F 14 y K→Y 15. O tiene precision 1 pero recall 0,8618: no recibe falsos positivos, sí pierde casos. A y C tienen precision y recall 1. Fuente: confusion_cnn.csv y report_cnn.csv.</a:t>
            </a:r>
            <a:endParaRPr/>
          </a:p>
        </p:txBody>
      </p:sp>
      <p:sp>
        <p:nvSpPr>
          <p:cNvPr id="102" name="Google Shape;10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Victor · 45 s. Arriba tres aciertos y abajo tres errores, filas identificables del test. O fila 452 se confunde con F con probabilidad 0,889. Softmax no es garantía ni confianza calibrada. Las similitudes de pose y sombras son hipótesis, no causalidad probada. Fuente: predictions_cnn.csv y datos originales.</a:t>
            </a:r>
            <a:endParaRPr/>
          </a:p>
        </p:txBody>
      </p:sp>
      <p:sp>
        <p:nvSpPr>
          <p:cNvPr id="114" name="Google Shape;11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Victor · 55 s. Mostrar entrada A/O, Conv1 canal 0 y Conv2 canal 1. Conv1 resalta contornos, Conv2 combina y localiza respuestas. Campo receptivo aumenta de 3×3 a 8×8. Las escalas individuales impiden comparar brillo directamente. No asignar nombre semántico fijo a los filtros. Notebook muestra seis clases y cuatro canales por capa. Fuente: feature_maps.npz.</a:t>
            </a:r>
            <a:endParaRPr/>
          </a:p>
        </p:txBody>
      </p:sp>
      <p:sp>
        <p:nvSpPr>
          <p:cNvPr id="123" name="Google Shape;12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Victor · 55 s. A diferencia de Feature Maps, Grad-CAM es específico de clase. Usa gradientes del logit respecto a Conv2. Colores cálidos indican mayor contribución relativa positiva. C/F también responden al fondo. Es una explicación aproximada y no causal. Fuente: gradcam.npz y notebook §9.</a:t>
            </a:r>
            <a:endParaRPr/>
          </a:p>
        </p:txBody>
      </p:sp>
      <p:sp>
        <p:nvSpPr>
          <p:cNvPr id="132" name="Google Shape;13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Nicolás · 20 s. Cerrar con la mejora experimental, la limitación y el siguiente paso. Cada integrante debe conocer toda la solución. Fuente: README y resultados E2.</a:t>
            </a:r>
            <a:endParaRPr/>
          </a:p>
        </p:txBody>
      </p:sp>
      <p:sp>
        <p:nvSpPr>
          <p:cNvPr id="141" name="Google Shape;14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6"/>
          <p:cNvSpPr txBox="1"/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18" name="Google Shape;18;p17"/>
          <p:cNvSpPr txBox="1"/>
          <p:nvPr>
            <p:ph idx="1" type="body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 and Two Column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21" name="Google Shape;21;p18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8"/>
          <p:cNvSpPr txBox="1"/>
          <p:nvPr>
            <p:ph idx="2" type="body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Title and One Colum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"/>
          <p:cNvSpPr/>
          <p:nvPr/>
        </p:nvSpPr>
        <p:spPr>
          <a:xfrm>
            <a:off x="552450" y="361950"/>
            <a:ext cx="11087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Clasificación de letras ASL</a:t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11144250" y="636270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2636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552450" y="1390650"/>
            <a:ext cx="1047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CNN y comparación con MLP</a:t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552450" y="2466975"/>
            <a:ext cx="10477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Evaluación 2 · TLY1102 · Sección 001D</a:t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552450" y="3362325"/>
            <a:ext cx="9525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Nicolás Fernández Vera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Bastian Gutierrez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Victor Gutierrez</a:t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552450" y="5429250"/>
            <a:ext cx="10477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52636B"/>
                </a:solidFill>
                <a:latin typeface="Arial"/>
                <a:ea typeface="Arial"/>
                <a:cs typeface="Arial"/>
                <a:sym typeface="Arial"/>
              </a:rPr>
              <a:t>Docente: Jazna Hidalgo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"/>
          <p:cNvSpPr/>
          <p:nvPr/>
        </p:nvSpPr>
        <p:spPr>
          <a:xfrm>
            <a:off x="552450" y="361950"/>
            <a:ext cx="11087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El caso conserva seis letras estáticas</a:t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1144250" y="636270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2636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552450" y="1266825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A   C   F   K   O   Y</a:t>
            </a:r>
            <a:endParaRPr/>
          </a:p>
        </p:txBody>
      </p:sp>
      <p:pic>
        <p:nvPicPr>
          <p:cNvPr id="45" name="Google Shape;4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450" y="2308804"/>
            <a:ext cx="11087100" cy="2078466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552450" y="4895850"/>
            <a:ext cx="110871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Entrada: 28×28 píxeles en gris. Salida: una de seis letras.</a:t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52450" y="5495925"/>
            <a:ext cx="11087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MLP histórico: 87,03% de acierto y 233 errores en test.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/>
        </p:nvSpPr>
        <p:spPr>
          <a:xfrm>
            <a:off x="552450" y="361950"/>
            <a:ext cx="11087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Preparación y particiones compartidas</a:t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11144250" y="636270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2636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graphicFrame>
        <p:nvGraphicFramePr>
          <p:cNvPr id="55" name="Google Shape;55;p3"/>
          <p:cNvGraphicFramePr/>
          <p:nvPr/>
        </p:nvGraphicFramePr>
        <p:xfrm>
          <a:off x="552450" y="136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{C9BF8B7F-B3EC-43DE-A964-E0585CF35ABA}</a:tableStyleId>
              </a:tblPr>
              <a:tblGrid>
                <a:gridCol w="1619250"/>
                <a:gridCol w="1619250"/>
                <a:gridCol w="1619250"/>
                <a:gridCol w="2000250"/>
                <a:gridCol w="2228850"/>
                <a:gridCol w="2000250"/>
              </a:tblGrid>
              <a:tr h="465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Letra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30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Original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30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Nueva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30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Train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30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Validación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30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303B"/>
                    </a:solidFill>
                  </a:tcPr>
                </a:tc>
              </a:tr>
              <a:tr h="465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65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915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</a:tr>
              <a:tr h="465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65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891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</a:tr>
              <a:tr h="465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65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894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</a:tr>
            </a:tbl>
          </a:graphicData>
        </a:graphic>
      </p:graphicFrame>
      <p:sp>
        <p:nvSpPr>
          <p:cNvPr id="56" name="Google Shape;56;p3"/>
          <p:cNvSpPr/>
          <p:nvPr/>
        </p:nvSpPr>
        <p:spPr>
          <a:xfrm>
            <a:off x="552450" y="4895850"/>
            <a:ext cx="110871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5.521 train + 1.381 validación + 1.797 test</a:t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552450" y="5514975"/>
            <a:ext cx="11087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MLP: (N, 784)      CNN: (N, 28, 28, 1)      Píxeles / 255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/>
          <p:nvPr/>
        </p:nvSpPr>
        <p:spPr>
          <a:xfrm>
            <a:off x="552450" y="361950"/>
            <a:ext cx="11087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Arquitectura CNN y decisiones</a:t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11144250" y="636270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2636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graphicFrame>
        <p:nvGraphicFramePr>
          <p:cNvPr id="65" name="Google Shape;65;p4"/>
          <p:cNvGraphicFramePr/>
          <p:nvPr/>
        </p:nvGraphicFramePr>
        <p:xfrm>
          <a:off x="552450" y="1257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{C9BF8B7F-B3EC-43DE-A964-E0585CF35ABA}</a:tableStyleId>
              </a:tblPr>
              <a:tblGrid>
                <a:gridCol w="6191250"/>
                <a:gridCol w="2476500"/>
                <a:gridCol w="2419350"/>
              </a:tblGrid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30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Salida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30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Parámetros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303B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Conv2D 16 · 3×3 · ReLU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26×26×16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MaxPooling 2×2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13×13×16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Conv2D 32 · 3×3 · ReLU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11×11×32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4.640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MaxPooling 2×2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5×5×32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Flatten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Dense 64 · ReLU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51.264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Dense 6 · Softmax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6" name="Google Shape;66;p4"/>
          <p:cNvSpPr/>
          <p:nvPr/>
        </p:nvSpPr>
        <p:spPr>
          <a:xfrm>
            <a:off x="552450" y="5543550"/>
            <a:ext cx="110871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56.454 parámetros. Filtros locales, dos niveles de representación.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552450" y="361950"/>
            <a:ext cx="11087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Entrenamiento bajo el mismo protocolo</a:t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11144250" y="636270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2636B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graphicFrame>
        <p:nvGraphicFramePr>
          <p:cNvPr id="74" name="Google Shape;74;p5"/>
          <p:cNvGraphicFramePr/>
          <p:nvPr/>
        </p:nvGraphicFramePr>
        <p:xfrm>
          <a:off x="552450" y="1733550"/>
          <a:ext cx="5410200" cy="36195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75" name="Google Shape;75;p5"/>
          <p:cNvGraphicFramePr/>
          <p:nvPr/>
        </p:nvGraphicFramePr>
        <p:xfrm>
          <a:off x="6219825" y="1733550"/>
          <a:ext cx="5410200" cy="361950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76" name="Google Shape;76;p5"/>
          <p:cNvSpPr/>
          <p:nvPr/>
        </p:nvSpPr>
        <p:spPr>
          <a:xfrm>
            <a:off x="552450" y="1190625"/>
            <a:ext cx="11087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Adam 0,001     20 épocas     Batch 32     CPU</a:t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552450" y="5695950"/>
            <a:ext cx="110871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Train y validación: 100% final en ambas redes. El test decide.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552450" y="361950"/>
            <a:ext cx="11087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La CNN alcanza 97,27% en test</a:t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11144250" y="636270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2636B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graphicFrame>
        <p:nvGraphicFramePr>
          <p:cNvPr id="85" name="Google Shape;85;p6"/>
          <p:cNvGraphicFramePr/>
          <p:nvPr/>
        </p:nvGraphicFramePr>
        <p:xfrm>
          <a:off x="552450" y="136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{C9BF8B7F-B3EC-43DE-A964-E0585CF35ABA}</a:tableStyleId>
              </a:tblPr>
              <a:tblGrid>
                <a:gridCol w="3333750"/>
                <a:gridCol w="2667000"/>
                <a:gridCol w="2543175"/>
                <a:gridCol w="2543175"/>
              </a:tblGrid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Métrica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30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MLP E1 histórico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30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MLP actual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30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CNN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303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87,03%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87.81%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97.27%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Precision macro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0,8778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0.8836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0.9739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Recall macro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0,8698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0.8776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0.9694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 macro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0,8694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0.8780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0.9706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Errores / 1.797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6" name="Google Shape;86;p6"/>
          <p:cNvSpPr/>
          <p:nvPr/>
        </p:nvSpPr>
        <p:spPr>
          <a:xfrm>
            <a:off x="552450" y="5086350"/>
            <a:ext cx="11087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+9,46 puntos porcentuales frente al MLP actual</a:t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552450" y="5667375"/>
            <a:ext cx="110871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Cumple accuracy ≥90% y F1 macro ≥0,88 en este dataset.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552450" y="361950"/>
            <a:ext cx="11087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Parámetros, tiempo y generalización</a:t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11144250" y="636270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2636B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graphicFrame>
        <p:nvGraphicFramePr>
          <p:cNvPr id="95" name="Google Shape;95;p7"/>
          <p:cNvGraphicFramePr/>
          <p:nvPr/>
        </p:nvGraphicFramePr>
        <p:xfrm>
          <a:off x="552450" y="1390650"/>
          <a:ext cx="5410200" cy="3590925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96" name="Google Shape;96;p7"/>
          <p:cNvGraphicFramePr/>
          <p:nvPr/>
        </p:nvGraphicFramePr>
        <p:xfrm>
          <a:off x="6219825" y="1390650"/>
          <a:ext cx="5410200" cy="3590925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97" name="Google Shape;97;p7"/>
          <p:cNvSpPr/>
          <p:nvPr/>
        </p:nvSpPr>
        <p:spPr>
          <a:xfrm>
            <a:off x="552450" y="5353050"/>
            <a:ext cx="110871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Brecha train-test: MLP 12,19 pp     CNN 2,73 pp</a:t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552450" y="5848350"/>
            <a:ext cx="11087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2636B"/>
                </a:solidFill>
                <a:latin typeface="Arial"/>
                <a:ea typeface="Arial"/>
                <a:cs typeface="Arial"/>
                <a:sym typeface="Arial"/>
              </a:rPr>
              <a:t>Mediciones del mismo entorno, una semilla y 20 épocas.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/>
          <p:nvPr/>
        </p:nvSpPr>
        <p:spPr>
          <a:xfrm>
            <a:off x="552450" y="361950"/>
            <a:ext cx="11087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Los errores se concentran en O y K</a:t>
            </a:r>
            <a:endParaRPr/>
          </a:p>
        </p:txBody>
      </p:sp>
      <p:sp>
        <p:nvSpPr>
          <p:cNvPr id="105" name="Google Shape;105;p8"/>
          <p:cNvSpPr/>
          <p:nvPr/>
        </p:nvSpPr>
        <p:spPr>
          <a:xfrm>
            <a:off x="11144250" y="636270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2636B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graphicFrame>
        <p:nvGraphicFramePr>
          <p:cNvPr id="106" name="Google Shape;106;p8"/>
          <p:cNvGraphicFramePr/>
          <p:nvPr/>
        </p:nvGraphicFramePr>
        <p:xfrm>
          <a:off x="552450" y="1495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{C9BF8B7F-B3EC-43DE-A964-E0585CF35ABA}</a:tableStyleId>
              </a:tblPr>
              <a:tblGrid>
                <a:gridCol w="1857375"/>
                <a:gridCol w="904875"/>
                <a:gridCol w="904875"/>
                <a:gridCol w="904875"/>
                <a:gridCol w="904875"/>
                <a:gridCol w="904875"/>
                <a:gridCol w="904875"/>
              </a:tblGrid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/ Pred.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30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30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30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30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30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30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303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03B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1230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F2F4"/>
                    </a:solidFill>
                  </a:tcPr>
                </a:tc>
              </a:tr>
            </a:tbl>
          </a:graphicData>
        </a:graphic>
      </p:graphicFrame>
      <p:sp>
        <p:nvSpPr>
          <p:cNvPr id="107" name="Google Shape;107;p8"/>
          <p:cNvSpPr/>
          <p:nvPr/>
        </p:nvSpPr>
        <p:spPr>
          <a:xfrm>
            <a:off x="8172450" y="1524000"/>
            <a:ext cx="3429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49 errores</a:t>
            </a:r>
            <a:endParaRPr/>
          </a:p>
        </p:txBody>
      </p:sp>
      <p:sp>
        <p:nvSpPr>
          <p:cNvPr id="108" name="Google Shape;108;p8"/>
          <p:cNvSpPr/>
          <p:nvPr/>
        </p:nvSpPr>
        <p:spPr>
          <a:xfrm>
            <a:off x="8172450" y="2352675"/>
            <a:ext cx="3429000" cy="160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O → K: 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O → F: 14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K → Y: 15</a:t>
            </a:r>
            <a:endParaRPr/>
          </a:p>
        </p:txBody>
      </p:sp>
      <p:sp>
        <p:nvSpPr>
          <p:cNvPr id="109" name="Google Shape;109;p8"/>
          <p:cNvSpPr/>
          <p:nvPr/>
        </p:nvSpPr>
        <p:spPr>
          <a:xfrm>
            <a:off x="8172450" y="4171950"/>
            <a:ext cx="3429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O: recall 86,18%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K: recall 95,47%</a:t>
            </a:r>
            <a:endParaRPr/>
          </a:p>
        </p:txBody>
      </p:sp>
      <p:sp>
        <p:nvSpPr>
          <p:cNvPr id="110" name="Google Shape;110;p8"/>
          <p:cNvSpPr/>
          <p:nvPr/>
        </p:nvSpPr>
        <p:spPr>
          <a:xfrm>
            <a:off x="552450" y="5505450"/>
            <a:ext cx="11087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MLP: 118 errores K↔Y. CNN: 15 errores en ese par.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/>
          <p:nvPr/>
        </p:nvSpPr>
        <p:spPr>
          <a:xfrm>
            <a:off x="552450" y="361950"/>
            <a:ext cx="11087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Predicciones correctas e incorrectas</a:t>
            </a:r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11144250" y="636270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2636B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pic>
        <p:nvPicPr>
          <p:cNvPr id="118" name="Google Shape;11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8050" y="1133475"/>
            <a:ext cx="7295900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9"/>
          <p:cNvSpPr/>
          <p:nvPr/>
        </p:nvSpPr>
        <p:spPr>
          <a:xfrm>
            <a:off x="552450" y="5895975"/>
            <a:ext cx="1108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Una predicción segura también puede fallar.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/>
          <p:nvPr/>
        </p:nvSpPr>
        <p:spPr>
          <a:xfrm>
            <a:off x="552450" y="361950"/>
            <a:ext cx="11087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Feature Maps: respuestas a distintas escalas</a:t>
            </a:r>
            <a:endParaRPr/>
          </a:p>
        </p:txBody>
      </p:sp>
      <p:sp>
        <p:nvSpPr>
          <p:cNvPr id="126" name="Google Shape;126;p10"/>
          <p:cNvSpPr/>
          <p:nvPr/>
        </p:nvSpPr>
        <p:spPr>
          <a:xfrm>
            <a:off x="11144250" y="636270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2636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pic>
        <p:nvPicPr>
          <p:cNvPr id="127" name="Google Shape;1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3021" y="1123950"/>
            <a:ext cx="7385957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0"/>
          <p:cNvSpPr/>
          <p:nvPr/>
        </p:nvSpPr>
        <p:spPr>
          <a:xfrm>
            <a:off x="552450" y="5857875"/>
            <a:ext cx="11087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Conv1: contornos locales. Conv2: combinaciones en regiones mayores.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/>
          <p:nvPr/>
        </p:nvSpPr>
        <p:spPr>
          <a:xfrm>
            <a:off x="552450" y="361950"/>
            <a:ext cx="11087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Grad-CAM por cada clase</a:t>
            </a:r>
            <a:endParaRPr/>
          </a:p>
        </p:txBody>
      </p:sp>
      <p:sp>
        <p:nvSpPr>
          <p:cNvPr id="135" name="Google Shape;135;p11"/>
          <p:cNvSpPr/>
          <p:nvPr/>
        </p:nvSpPr>
        <p:spPr>
          <a:xfrm>
            <a:off x="11144250" y="636270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2636B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pic>
        <p:nvPicPr>
          <p:cNvPr id="136" name="Google Shape;1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229" y="1524000"/>
            <a:ext cx="10895542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1"/>
          <p:cNvSpPr/>
          <p:nvPr/>
        </p:nvSpPr>
        <p:spPr>
          <a:xfrm>
            <a:off x="552450" y="5810250"/>
            <a:ext cx="11087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La activación incluye fondo en algunos ejemplos: falta validación externa.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/>
          <p:nvPr/>
        </p:nvSpPr>
        <p:spPr>
          <a:xfrm>
            <a:off x="552450" y="361950"/>
            <a:ext cx="11087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Conclusiones y alcance de la evidencia</a:t>
            </a:r>
            <a:endParaRPr/>
          </a:p>
        </p:txBody>
      </p:sp>
      <p:sp>
        <p:nvSpPr>
          <p:cNvPr id="144" name="Google Shape;144;p12"/>
          <p:cNvSpPr/>
          <p:nvPr/>
        </p:nvSpPr>
        <p:spPr>
          <a:xfrm>
            <a:off x="11144250" y="636270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2636B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145" name="Google Shape;145;p12"/>
          <p:cNvSpPr/>
          <p:nvPr/>
        </p:nvSpPr>
        <p:spPr>
          <a:xfrm>
            <a:off x="552450" y="1428750"/>
            <a:ext cx="9525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97,27%</a:t>
            </a:r>
            <a:endParaRPr/>
          </a:p>
        </p:txBody>
      </p:sp>
      <p:sp>
        <p:nvSpPr>
          <p:cNvPr id="146" name="Google Shape;146;p12"/>
          <p:cNvSpPr/>
          <p:nvPr/>
        </p:nvSpPr>
        <p:spPr>
          <a:xfrm>
            <a:off x="552450" y="2657475"/>
            <a:ext cx="106680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de acierto, con 49 errores y 48,27% menos parámetros</a:t>
            </a:r>
            <a:endParaRPr/>
          </a:p>
        </p:txBody>
      </p:sp>
      <p:sp>
        <p:nvSpPr>
          <p:cNvPr id="147" name="Google Shape;147;p12"/>
          <p:cNvSpPr/>
          <p:nvPr/>
        </p:nvSpPr>
        <p:spPr>
          <a:xfrm>
            <a:off x="552450" y="3857625"/>
            <a:ext cx="10858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2303B"/>
                </a:solidFill>
                <a:latin typeface="Arial"/>
                <a:ea typeface="Arial"/>
                <a:cs typeface="Arial"/>
                <a:sym typeface="Arial"/>
              </a:rPr>
              <a:t>La CNN mejora la generalización en estas seis letras.</a:t>
            </a:r>
            <a:endParaRPr/>
          </a:p>
        </p:txBody>
      </p:sp>
      <p:sp>
        <p:nvSpPr>
          <p:cNvPr id="148" name="Google Shape;148;p12"/>
          <p:cNvSpPr/>
          <p:nvPr/>
        </p:nvSpPr>
        <p:spPr>
          <a:xfrm>
            <a:off x="552450" y="4695825"/>
            <a:ext cx="10858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52636B"/>
                </a:solidFill>
                <a:latin typeface="Arial"/>
                <a:ea typeface="Arial"/>
                <a:cs typeface="Arial"/>
                <a:sym typeface="Arial"/>
              </a:rPr>
              <a:t>Próximo paso: evaluar nuevas personas y escenarios.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52636B"/>
                </a:solidFill>
                <a:latin typeface="Arial"/>
                <a:ea typeface="Arial"/>
                <a:cs typeface="Arial"/>
                <a:sym typeface="Arial"/>
              </a:rPr>
              <a:t>Una corrida sobre ASL estático no valida un traductor real.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