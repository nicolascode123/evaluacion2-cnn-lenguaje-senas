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a/EeH00+wXmWSIaEeLdopwc28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966960" y="1097280"/>
            <a:ext cx="118872" cy="118872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0789920" y="1828800"/>
            <a:ext cx="118872" cy="118872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9784080" y="2743200"/>
            <a:ext cx="118872" cy="118872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1064240" y="3200400"/>
            <a:ext cx="118872" cy="118872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332720" y="4114800"/>
            <a:ext cx="118872" cy="118872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1292840" y="4846320"/>
            <a:ext cx="118872" cy="118872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0012680" y="1188720"/>
            <a:ext cx="822960" cy="685799"/>
          </a:xfrm>
          <a:prstGeom prst="straightConnector1">
            <a:avLst/>
          </a:prstGeom>
          <a:noFill/>
          <a:ln cap="flat" cmpd="sng" w="15225">
            <a:solidFill>
              <a:srgbClr val="415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2" name="Google Shape;92;p1"/>
          <p:cNvCxnSpPr/>
          <p:nvPr/>
        </p:nvCxnSpPr>
        <p:spPr>
          <a:xfrm flipH="1">
            <a:off x="9829800" y="1874519"/>
            <a:ext cx="1005840" cy="914401"/>
          </a:xfrm>
          <a:prstGeom prst="straightConnector1">
            <a:avLst/>
          </a:prstGeom>
          <a:noFill/>
          <a:ln cap="flat" cmpd="sng" w="15225">
            <a:solidFill>
              <a:srgbClr val="415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3" name="Google Shape;93;p1"/>
          <p:cNvCxnSpPr/>
          <p:nvPr/>
        </p:nvCxnSpPr>
        <p:spPr>
          <a:xfrm>
            <a:off x="9829800" y="2788920"/>
            <a:ext cx="1280160" cy="457200"/>
          </a:xfrm>
          <a:prstGeom prst="straightConnector1">
            <a:avLst/>
          </a:prstGeom>
          <a:noFill/>
          <a:ln cap="flat" cmpd="sng" w="15225">
            <a:solidFill>
              <a:srgbClr val="415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4" name="Google Shape;94;p1"/>
          <p:cNvCxnSpPr/>
          <p:nvPr/>
        </p:nvCxnSpPr>
        <p:spPr>
          <a:xfrm flipH="1">
            <a:off x="10378440" y="3246120"/>
            <a:ext cx="731520" cy="914400"/>
          </a:xfrm>
          <a:prstGeom prst="straightConnector1">
            <a:avLst/>
          </a:prstGeom>
          <a:noFill/>
          <a:ln cap="flat" cmpd="sng" w="15225">
            <a:solidFill>
              <a:srgbClr val="415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" name="Google Shape;95;p1"/>
          <p:cNvCxnSpPr/>
          <p:nvPr/>
        </p:nvCxnSpPr>
        <p:spPr>
          <a:xfrm>
            <a:off x="10378440" y="4160520"/>
            <a:ext cx="960120" cy="731520"/>
          </a:xfrm>
          <a:prstGeom prst="straightConnector1">
            <a:avLst/>
          </a:prstGeom>
          <a:noFill/>
          <a:ln cap="flat" cmpd="sng" w="15225">
            <a:solidFill>
              <a:srgbClr val="415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6" name="Google Shape;96;p1"/>
          <p:cNvSpPr txBox="1"/>
          <p:nvPr/>
        </p:nvSpPr>
        <p:spPr>
          <a:xfrm>
            <a:off x="685800" y="1234440"/>
            <a:ext cx="79552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CLASIFICACIÓN DE</a:t>
            </a:r>
            <a:br>
              <a:rPr b="1" i="0" lang="en-US" sz="31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1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LENGUAJE DE SEÑAS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713232" y="2761488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mediante Perceptrón Multicapa (MLP)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713232" y="3456432"/>
            <a:ext cx="68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Proyecto de </a:t>
            </a:r>
            <a:r>
              <a:rPr lang="en-US">
                <a:solidFill>
                  <a:srgbClr val="AEBACA"/>
                </a:solidFill>
              </a:rPr>
              <a:t>Tecnicas avanzadas de machine learning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713232" y="5074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Nicolás Fernandez  •  Bastian Gutierrez  •  Victor Gutierrez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713232" y="546811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Docente: Jazna Hidalgo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713232" y="6144768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|  Evaluación N°1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1. Problema 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94360" y="1508760"/>
            <a:ext cx="5303520" cy="1874519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94360" y="1508760"/>
            <a:ext cx="54864" cy="1874519"/>
          </a:xfrm>
          <a:prstGeom prst="rect">
            <a:avLst/>
          </a:prstGeom>
          <a:solidFill>
            <a:srgbClr val="DE5C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95528" y="1673351"/>
            <a:ext cx="4937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795528" y="2075688"/>
            <a:ext cx="4919472" cy="116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La mayoría de las herramientas digitales opera mediante texto o voz. Esto limita la interacción de usuarios que se comunican mediante lenguaje de señas.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6172200" y="1508760"/>
            <a:ext cx="5394960" cy="1874519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172200" y="1508760"/>
            <a:ext cx="54864" cy="1874519"/>
          </a:xfrm>
          <a:prstGeom prst="rect">
            <a:avLst/>
          </a:prstGeom>
          <a:solidFill>
            <a:srgbClr val="4ABE8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373368" y="1673351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Oportunidad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373368" y="2075688"/>
            <a:ext cx="5010912" cy="116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Un sistema de reconocimiento gestual puede transformar una imagen de la mano en una clase interpretable y servir como módulo para soluciones accesibles.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594360" y="3794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Aplicaciones propuestas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94360" y="4251960"/>
            <a:ext cx="5166360" cy="713232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594360" y="4251960"/>
            <a:ext cx="54864" cy="71323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795528" y="4416552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Kioscos accesibles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795528" y="4818888"/>
            <a:ext cx="4782312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Bancos, hospitales y transporte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6172200" y="4251960"/>
            <a:ext cx="5166360" cy="713232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6172200" y="4251960"/>
            <a:ext cx="54864" cy="71323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373368" y="4416552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Teleconferencia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6373368" y="4818888"/>
            <a:ext cx="4782312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Subtítulos / interpretación gestual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594360" y="5166360"/>
            <a:ext cx="5166360" cy="713232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594360" y="5166360"/>
            <a:ext cx="54864" cy="71323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795528" y="5330952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Educación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795528" y="5733288"/>
            <a:ext cx="4782312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Aprendizaje y validación de postura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6172200" y="5166360"/>
            <a:ext cx="5166360" cy="713232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6172200" y="5166360"/>
            <a:ext cx="54864" cy="71323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6373368" y="5330952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6373368" y="5733288"/>
            <a:ext cx="4782312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Control de interfaces mediante gestos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2. Objetivo y alcance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594360" y="14173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594360" y="181051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Desarrollar y evaluar un MLP reproducible para clasificar imágenes de lenguaje de señas en seis categorías, buscando alta precisión y capacidad de generalización.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594360" y="28803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Alcance del MVP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94360" y="3401568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594360" y="3465576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594360" y="40233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Clase 0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2450591" y="3401568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2450591" y="3465576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2450591" y="40233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Clase 1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4306824" y="3401568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4306824" y="3465576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4306824" y="40233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Clase 2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6163056" y="3401568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6163056" y="3465576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6163056" y="40233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Clase 3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8019288" y="3401568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8019288" y="3465576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8019288" y="40233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Clase 4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9875519" y="3401568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9875519" y="3465576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9875519" y="40233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Clase 5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594360" y="48920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Imagen de entrada: 28 × 28 píxeles → 784 características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594360" y="533095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Reproducibilidad: SEED = 42 en NumPy + TensorFlow/Keras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594360" y="57607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Evaluación: Loss, Accuracy, Precision, Recall, F1 y matriz de confusión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/>
          <p:nvPr/>
        </p:nvSpPr>
        <p:spPr>
          <a:xfrm>
            <a:off x="6192245" y="1417320"/>
            <a:ext cx="4851950" cy="3246120"/>
          </a:xfrm>
          <a:prstGeom prst="rect">
            <a:avLst/>
          </a:prstGeom>
          <a:noFill/>
          <a:ln cap="flat" cmpd="sng" w="10150">
            <a:solidFill>
              <a:srgbClr val="4652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30422" y="1417320"/>
            <a:ext cx="4745596" cy="3246120"/>
          </a:xfrm>
          <a:prstGeom prst="rect">
            <a:avLst/>
          </a:prstGeom>
          <a:noFill/>
          <a:ln cap="flat" cmpd="sng" w="10150">
            <a:solidFill>
              <a:srgbClr val="4652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3. Datos y análisis exploratorio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594360" y="1042415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Sign Language MNIST — dataset público de Kaggle</a:t>
            </a:r>
            <a:endParaRPr/>
          </a:p>
        </p:txBody>
      </p:sp>
      <p:pic>
        <p:nvPicPr>
          <p:cNvPr descr="nbimg_2.png"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422" y="1417320"/>
            <a:ext cx="4745596" cy="3246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bimg_1.png" id="180" name="Google Shape;1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2245" y="1417320"/>
            <a:ext cx="485195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/>
          <p:nvPr/>
        </p:nvSpPr>
        <p:spPr>
          <a:xfrm>
            <a:off x="594360" y="4892040"/>
            <a:ext cx="3429000" cy="10515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594360" y="4892040"/>
            <a:ext cx="54864" cy="1051560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795528" y="5056631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Dataset original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795528" y="5458968"/>
            <a:ext cx="3044952" cy="338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27.455 train  •  7.172 test</a:t>
            </a:r>
            <a:br>
              <a:rPr b="0" i="0" lang="en-US" sz="11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28×28 px en escala de grises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4315968" y="4892040"/>
            <a:ext cx="3429000" cy="10515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4315968" y="4892040"/>
            <a:ext cx="54864" cy="1051560"/>
          </a:xfrm>
          <a:prstGeom prst="rect">
            <a:avLst/>
          </a:prstGeom>
          <a:solidFill>
            <a:srgbClr val="4ABE8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4517136" y="5056631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Subconjunto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4517136" y="5458968"/>
            <a:ext cx="3044952" cy="338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6.902 train  •  1.797 test</a:t>
            </a:r>
            <a:br>
              <a:rPr b="0" i="0" lang="en-US" sz="11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Clases A, C, F, K, O, Y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8037575" y="4892040"/>
            <a:ext cx="3429000" cy="10515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037575" y="4892040"/>
            <a:ext cx="54864" cy="1051560"/>
          </a:xfrm>
          <a:prstGeom prst="rect">
            <a:avLst/>
          </a:prstGeom>
          <a:solidFill>
            <a:srgbClr val="EFA3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8238744" y="5056631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8238744" y="5458968"/>
            <a:ext cx="3044952" cy="338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0 valores nulos</a:t>
            </a:r>
            <a:br>
              <a:rPr b="0" i="0" lang="en-US" sz="11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Clases razonablemente equilibradas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/>
          <p:nvPr/>
        </p:nvSpPr>
        <p:spPr>
          <a:xfrm>
            <a:off x="5242803" y="4617720"/>
            <a:ext cx="2636034" cy="1417320"/>
          </a:xfrm>
          <a:prstGeom prst="rect">
            <a:avLst/>
          </a:prstGeom>
          <a:noFill/>
          <a:ln cap="flat" cmpd="sng" w="10150">
            <a:solidFill>
              <a:srgbClr val="4652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376298" y="4617720"/>
            <a:ext cx="2733803" cy="1417320"/>
          </a:xfrm>
          <a:prstGeom prst="rect">
            <a:avLst/>
          </a:prstGeom>
          <a:noFill/>
          <a:ln cap="flat" cmpd="sng" w="10150">
            <a:solidFill>
              <a:srgbClr val="4652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4. Preparación de los datos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594360" y="156362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92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1280160" y="149047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Filtrado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1280160" y="1892807"/>
            <a:ext cx="4526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n-US" sz="1250">
                <a:solidFill>
                  <a:srgbClr val="AEBACA"/>
                </a:solidFill>
              </a:rPr>
              <a:t>conservan</a:t>
            </a:r>
            <a:r>
              <a:rPr b="0" i="0" lang="en-US" sz="12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 solo A, C, F, K, O, Y.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6217920" y="1508760"/>
            <a:ext cx="502920" cy="502920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6217920" y="156362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92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6903720" y="149047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Recodificación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6903720" y="1892807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Etiquetas originales → clases 0 a 5.</a:t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594360" y="3017520"/>
            <a:ext cx="502920" cy="502920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594360" y="307238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92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1280160" y="299923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Normalización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1280160" y="3401568"/>
            <a:ext cx="4526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Píxe</a:t>
            </a:r>
            <a:r>
              <a:rPr lang="en-US" sz="1250">
                <a:solidFill>
                  <a:srgbClr val="AEBACA"/>
                </a:solidFill>
              </a:rPr>
              <a:t>l</a:t>
            </a:r>
            <a:r>
              <a:rPr b="0" i="0" lang="en-US" sz="12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 0–255 → rango 0–1.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6217920" y="3017520"/>
            <a:ext cx="502920" cy="502920"/>
          </a:xfrm>
          <a:prstGeom prst="ellipse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6217920" y="307238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92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6903720" y="299923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División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6903720" y="3401568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Train/Validation 80/20, estratificado; Test intacto.</a:t>
            </a:r>
            <a:endParaRPr/>
          </a:p>
        </p:txBody>
      </p:sp>
      <p:pic>
        <p:nvPicPr>
          <p:cNvPr descr="nbimg_5.png" id="220" name="Google Shape;2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298" y="4617720"/>
            <a:ext cx="2733803" cy="1417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bimg_4.png" id="221" name="Google Shape;2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2803" y="4617720"/>
            <a:ext cx="2636034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/>
          <p:nvPr/>
        </p:nvSpPr>
        <p:spPr>
          <a:xfrm>
            <a:off x="8229600" y="4617720"/>
            <a:ext cx="3291840" cy="141732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8229600" y="4617720"/>
            <a:ext cx="54864" cy="1417320"/>
          </a:xfrm>
          <a:prstGeom prst="rect">
            <a:avLst/>
          </a:prstGeom>
          <a:solidFill>
            <a:srgbClr val="4ABE8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8430768" y="478231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8430768" y="5184648"/>
            <a:ext cx="2907792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Entrada final: vector de 784 valores normalizados por imagen.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5. Metodología CRISP-DM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94360" y="1417320"/>
            <a:ext cx="3337560" cy="15087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758952" y="1554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1252728" y="15544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Comprensión del negocio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758952" y="207568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Accesibilidad y definición del MVP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389120" y="1417320"/>
            <a:ext cx="3337560" cy="15087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4553712" y="1554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5047488" y="15544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Comprensión de datos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4553712" y="207568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Estructura, calidad y distribución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8183880" y="1417320"/>
            <a:ext cx="3337560" cy="15087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8348472" y="1554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8842248" y="15544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Preparación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8348472" y="207568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Filtrado, recodificación y normalización</a:t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594360" y="3429000"/>
            <a:ext cx="3337560" cy="15087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758952" y="3566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1252728" y="35661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Modelado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758952" y="408736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Diseño y entrenamiento del MLP</a:t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4389120" y="3429000"/>
            <a:ext cx="3337560" cy="15087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4553712" y="3566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5047488" y="35661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4553712" y="408736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Métricas, curvas y matriz de confusión</a:t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8183880" y="3429000"/>
            <a:ext cx="3337560" cy="15087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8348472" y="3566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8842248" y="35661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8348472" y="408736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Reproducibilidad y documentación</a:t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Proceso iterativo: los resultados de evaluación orientan mejoras futuras del modelado y preparación de datos.</a:t>
            </a:r>
            <a:endParaRPr/>
          </a:p>
        </p:txBody>
      </p:sp>
      <p:sp>
        <p:nvSpPr>
          <p:cNvPr id="260" name="Google Shape;260;p6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261" name="Google Shape;261;p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6. Arquitectura del modelo</a:t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40080" y="1828800"/>
            <a:ext cx="2057400" cy="19659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19050">
            <a:solidFill>
              <a:srgbClr val="36C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777240" y="2039112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777240" y="2514600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784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822959" y="3182112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28×28 píxeles aplanados</a:t>
            </a:r>
            <a:endParaRPr/>
          </a:p>
        </p:txBody>
      </p:sp>
      <p:cxnSp>
        <p:nvCxnSpPr>
          <p:cNvPr id="273" name="Google Shape;273;p7"/>
          <p:cNvCxnSpPr/>
          <p:nvPr/>
        </p:nvCxnSpPr>
        <p:spPr>
          <a:xfrm>
            <a:off x="2697480" y="2816352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5564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4" name="Google Shape;274;p7"/>
          <p:cNvSpPr/>
          <p:nvPr/>
        </p:nvSpPr>
        <p:spPr>
          <a:xfrm>
            <a:off x="3200400" y="1828800"/>
            <a:ext cx="2057400" cy="19659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19050">
            <a:solidFill>
              <a:srgbClr val="4ABE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3337560" y="2039112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Dense + ReLU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3337560" y="2514600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ABE84"/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3383280" y="3182112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100.480 parámetros</a:t>
            </a:r>
            <a:endParaRPr/>
          </a:p>
        </p:txBody>
      </p:sp>
      <p:cxnSp>
        <p:nvCxnSpPr>
          <p:cNvPr id="278" name="Google Shape;278;p7"/>
          <p:cNvCxnSpPr/>
          <p:nvPr/>
        </p:nvCxnSpPr>
        <p:spPr>
          <a:xfrm>
            <a:off x="5257800" y="2816352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5564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9" name="Google Shape;279;p7"/>
          <p:cNvSpPr/>
          <p:nvPr/>
        </p:nvSpPr>
        <p:spPr>
          <a:xfrm>
            <a:off x="5806440" y="1828800"/>
            <a:ext cx="2057400" cy="19659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19050">
            <a:solidFill>
              <a:srgbClr val="4ABE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5943600" y="2039112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Dense + ReLU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5943600" y="2514600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ABE84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5989320" y="3182112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8.256 parámetros</a:t>
            </a:r>
            <a:endParaRPr/>
          </a:p>
        </p:txBody>
      </p:sp>
      <p:cxnSp>
        <p:nvCxnSpPr>
          <p:cNvPr id="283" name="Google Shape;283;p7"/>
          <p:cNvCxnSpPr/>
          <p:nvPr/>
        </p:nvCxnSpPr>
        <p:spPr>
          <a:xfrm>
            <a:off x="7863840" y="2816352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5564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4" name="Google Shape;284;p7"/>
          <p:cNvSpPr/>
          <p:nvPr/>
        </p:nvSpPr>
        <p:spPr>
          <a:xfrm>
            <a:off x="8412480" y="1828800"/>
            <a:ext cx="2057400" cy="19659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19050">
            <a:solidFill>
              <a:srgbClr val="EFA3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8549640" y="2039112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Softmax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8549640" y="2514600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EFA34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8595359" y="3182112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390 parámetros • A/C/F/K/O/Y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2971800" y="443484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Total: 109.126 parámetros entrenables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914400" y="5074920"/>
            <a:ext cx="3017520" cy="86868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914400" y="5074920"/>
            <a:ext cx="54864" cy="868680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1115568" y="523951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Pérdida</a:t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1115568" y="5641848"/>
            <a:ext cx="2633472" cy="155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sparse_categorical_crossentropy</a:t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4572000" y="5074920"/>
            <a:ext cx="3017520" cy="86868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4572000" y="5074920"/>
            <a:ext cx="54864" cy="868680"/>
          </a:xfrm>
          <a:prstGeom prst="rect">
            <a:avLst/>
          </a:prstGeom>
          <a:solidFill>
            <a:srgbClr val="4ABE8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4773168" y="523951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Optimizador</a:t>
            </a:r>
            <a:endParaRPr/>
          </a:p>
        </p:txBody>
      </p:sp>
      <p:sp>
        <p:nvSpPr>
          <p:cNvPr id="296" name="Google Shape;296;p7"/>
          <p:cNvSpPr txBox="1"/>
          <p:nvPr/>
        </p:nvSpPr>
        <p:spPr>
          <a:xfrm>
            <a:off x="4773168" y="5641848"/>
            <a:ext cx="2633472" cy="155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Adam</a:t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8229600" y="5074920"/>
            <a:ext cx="3017520" cy="86868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229600" y="5074920"/>
            <a:ext cx="54864" cy="868680"/>
          </a:xfrm>
          <a:prstGeom prst="rect">
            <a:avLst/>
          </a:prstGeom>
          <a:solidFill>
            <a:srgbClr val="EFA3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8430768" y="523951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Entrenamiento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8430768" y="5641848"/>
            <a:ext cx="2633472" cy="155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20 épocas • batch 32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"/>
          <p:cNvSpPr/>
          <p:nvPr/>
        </p:nvSpPr>
        <p:spPr>
          <a:xfrm>
            <a:off x="6172200" y="1603390"/>
            <a:ext cx="5394960" cy="3011140"/>
          </a:xfrm>
          <a:prstGeom prst="rect">
            <a:avLst/>
          </a:prstGeom>
          <a:noFill/>
          <a:ln cap="flat" cmpd="sng" w="10150">
            <a:solidFill>
              <a:srgbClr val="4652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94360" y="1584297"/>
            <a:ext cx="5394960" cy="3049325"/>
          </a:xfrm>
          <a:prstGeom prst="rect">
            <a:avLst/>
          </a:prstGeom>
          <a:noFill/>
          <a:ln cap="flat" cmpd="sng" w="10150">
            <a:solidFill>
              <a:srgbClr val="4652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7. Entrenamiento y comportamiento del modelo</a:t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bimg_7.png" id="312" name="Google Shape;3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584297"/>
            <a:ext cx="5394960" cy="304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bimg_8.png" id="313" name="Google Shape;3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603390"/>
            <a:ext cx="5394960" cy="301114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8"/>
          <p:cNvSpPr/>
          <p:nvPr/>
        </p:nvSpPr>
        <p:spPr>
          <a:xfrm>
            <a:off x="594360" y="5074920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94360" y="5074920"/>
            <a:ext cx="54864" cy="914400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795528" y="523951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Entrenamiento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795528" y="5641848"/>
            <a:ext cx="3044952" cy="201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35,18 segundos en 20 épocas.</a:t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4370832" y="5074920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370832" y="5074920"/>
            <a:ext cx="54864" cy="914400"/>
          </a:xfrm>
          <a:prstGeom prst="rect">
            <a:avLst/>
          </a:prstGeom>
          <a:solidFill>
            <a:srgbClr val="4ABE8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4572000" y="523951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Última época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4572000" y="5641848"/>
            <a:ext cx="3044952" cy="201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Train Accuracy: 100%</a:t>
            </a:r>
            <a:b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Val Accuracy: 100%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8147304" y="5074920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8147304" y="5074920"/>
            <a:ext cx="54864" cy="914400"/>
          </a:xfrm>
          <a:prstGeom prst="rect">
            <a:avLst/>
          </a:prstGeom>
          <a:solidFill>
            <a:srgbClr val="EFA3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8348472" y="523951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Brecha</a:t>
            </a:r>
            <a:endParaRPr/>
          </a:p>
        </p:txBody>
      </p:sp>
      <p:sp>
        <p:nvSpPr>
          <p:cNvPr id="325" name="Google Shape;325;p8"/>
          <p:cNvSpPr txBox="1"/>
          <p:nvPr/>
        </p:nvSpPr>
        <p:spPr>
          <a:xfrm>
            <a:off x="8348472" y="5641848"/>
            <a:ext cx="3044952" cy="201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Accuracy: 0,0000</a:t>
            </a:r>
            <a:b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Loss: 0,0003</a:t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8. Resultados finales y KPIs</a:t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594360" y="1417320"/>
            <a:ext cx="2514600" cy="160020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 txBox="1"/>
          <p:nvPr/>
        </p:nvSpPr>
        <p:spPr>
          <a:xfrm>
            <a:off x="758952" y="1572768"/>
            <a:ext cx="2185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87,03%</a:t>
            </a:r>
            <a:endParaRPr/>
          </a:p>
        </p:txBody>
      </p:sp>
      <p:sp>
        <p:nvSpPr>
          <p:cNvPr id="337" name="Google Shape;337;p9"/>
          <p:cNvSpPr txBox="1"/>
          <p:nvPr/>
        </p:nvSpPr>
        <p:spPr>
          <a:xfrm>
            <a:off x="758952" y="2130552"/>
            <a:ext cx="21854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Accuracy test</a:t>
            </a:r>
            <a:endParaRPr/>
          </a:p>
        </p:txBody>
      </p:sp>
      <p:sp>
        <p:nvSpPr>
          <p:cNvPr id="338" name="Google Shape;338;p9"/>
          <p:cNvSpPr txBox="1"/>
          <p:nvPr/>
        </p:nvSpPr>
        <p:spPr>
          <a:xfrm>
            <a:off x="758952" y="2560320"/>
            <a:ext cx="2185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Objetivo ≥ 90%</a:t>
            </a:r>
            <a:endParaRPr/>
          </a:p>
        </p:txBody>
      </p:sp>
      <p:sp>
        <p:nvSpPr>
          <p:cNvPr id="339" name="Google Shape;339;p9"/>
          <p:cNvSpPr txBox="1"/>
          <p:nvPr/>
        </p:nvSpPr>
        <p:spPr>
          <a:xfrm>
            <a:off x="1965960" y="158191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A34B"/>
                </a:solidFill>
                <a:latin typeface="Arial"/>
                <a:ea typeface="Arial"/>
                <a:cs typeface="Arial"/>
                <a:sym typeface="Arial"/>
              </a:rPr>
              <a:t>NO CUMPLE</a:t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3310128" y="1417320"/>
            <a:ext cx="2514600" cy="160020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 txBox="1"/>
          <p:nvPr/>
        </p:nvSpPr>
        <p:spPr>
          <a:xfrm>
            <a:off x="3474720" y="1572768"/>
            <a:ext cx="2185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0,8694</a:t>
            </a:r>
            <a:endParaRPr/>
          </a:p>
        </p:txBody>
      </p:sp>
      <p:sp>
        <p:nvSpPr>
          <p:cNvPr id="342" name="Google Shape;342;p9"/>
          <p:cNvSpPr txBox="1"/>
          <p:nvPr/>
        </p:nvSpPr>
        <p:spPr>
          <a:xfrm>
            <a:off x="3474720" y="2130552"/>
            <a:ext cx="21854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F1 macro</a:t>
            </a:r>
            <a:endParaRPr/>
          </a:p>
        </p:txBody>
      </p:sp>
      <p:sp>
        <p:nvSpPr>
          <p:cNvPr id="343" name="Google Shape;343;p9"/>
          <p:cNvSpPr txBox="1"/>
          <p:nvPr/>
        </p:nvSpPr>
        <p:spPr>
          <a:xfrm>
            <a:off x="3474720" y="2560320"/>
            <a:ext cx="2185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Objetivo ≥ 0,88</a:t>
            </a:r>
            <a:endParaRPr/>
          </a:p>
        </p:txBody>
      </p:sp>
      <p:sp>
        <p:nvSpPr>
          <p:cNvPr id="344" name="Google Shape;344;p9"/>
          <p:cNvSpPr txBox="1"/>
          <p:nvPr/>
        </p:nvSpPr>
        <p:spPr>
          <a:xfrm>
            <a:off x="4681728" y="158191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A34B"/>
                </a:solidFill>
                <a:latin typeface="Arial"/>
                <a:ea typeface="Arial"/>
                <a:cs typeface="Arial"/>
                <a:sym typeface="Arial"/>
              </a:rPr>
              <a:t>NO CUMPLE</a:t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6025896" y="1417320"/>
            <a:ext cx="2514600" cy="160020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6190488" y="1572768"/>
            <a:ext cx="2185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233</a:t>
            </a:r>
            <a:endParaRPr/>
          </a:p>
        </p:txBody>
      </p:sp>
      <p:sp>
        <p:nvSpPr>
          <p:cNvPr id="347" name="Google Shape;347;p9"/>
          <p:cNvSpPr txBox="1"/>
          <p:nvPr/>
        </p:nvSpPr>
        <p:spPr>
          <a:xfrm>
            <a:off x="6190488" y="2130552"/>
            <a:ext cx="21854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Errores</a:t>
            </a:r>
            <a:endParaRPr/>
          </a:p>
        </p:txBody>
      </p:sp>
      <p:sp>
        <p:nvSpPr>
          <p:cNvPr id="348" name="Google Shape;348;p9"/>
          <p:cNvSpPr txBox="1"/>
          <p:nvPr/>
        </p:nvSpPr>
        <p:spPr>
          <a:xfrm>
            <a:off x="6190488" y="2560320"/>
            <a:ext cx="2185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233 / 1.797 muestras</a:t>
            </a:r>
            <a:endParaRPr/>
          </a:p>
        </p:txBody>
      </p:sp>
      <p:sp>
        <p:nvSpPr>
          <p:cNvPr id="349" name="Google Shape;349;p9"/>
          <p:cNvSpPr txBox="1"/>
          <p:nvPr/>
        </p:nvSpPr>
        <p:spPr>
          <a:xfrm>
            <a:off x="7397496" y="158191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A34B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8741664" y="1417320"/>
            <a:ext cx="2880360" cy="160020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8906256" y="1572768"/>
            <a:ext cx="25511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/>
          </a:p>
        </p:txBody>
      </p:sp>
      <p:sp>
        <p:nvSpPr>
          <p:cNvPr id="352" name="Google Shape;352;p9"/>
          <p:cNvSpPr txBox="1"/>
          <p:nvPr/>
        </p:nvSpPr>
        <p:spPr>
          <a:xfrm>
            <a:off x="8906256" y="2130552"/>
            <a:ext cx="25511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Val Accuracy</a:t>
            </a:r>
            <a:endParaRPr/>
          </a:p>
        </p:txBody>
      </p:sp>
      <p:sp>
        <p:nvSpPr>
          <p:cNvPr id="353" name="Google Shape;353;p9"/>
          <p:cNvSpPr txBox="1"/>
          <p:nvPr/>
        </p:nvSpPr>
        <p:spPr>
          <a:xfrm>
            <a:off x="8906256" y="2560320"/>
            <a:ext cx="25511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Última época</a:t>
            </a:r>
            <a:endParaRPr/>
          </a:p>
        </p:txBody>
      </p:sp>
      <p:sp>
        <p:nvSpPr>
          <p:cNvPr id="354" name="Google Shape;354;p9"/>
          <p:cNvSpPr txBox="1"/>
          <p:nvPr/>
        </p:nvSpPr>
        <p:spPr>
          <a:xfrm>
            <a:off x="10479024" y="158191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A34B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355" name="Google Shape;355;p9"/>
          <p:cNvSpPr txBox="1"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Lectura de los resultados</a:t>
            </a:r>
            <a:endParaRPr/>
          </a:p>
        </p:txBody>
      </p:sp>
      <p:sp>
        <p:nvSpPr>
          <p:cNvPr id="356" name="Google Shape;356;p9"/>
          <p:cNvSpPr txBox="1"/>
          <p:nvPr/>
        </p:nvSpPr>
        <p:spPr>
          <a:xfrm>
            <a:off x="594360" y="3886200"/>
            <a:ext cx="64008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El modelo alcanza un desempeño alto en entrenamiento y validación, pero cae a 87,03% sobre el conjunto de prueba.</a:t>
            </a:r>
            <a:br>
              <a:rPr b="0" i="0" lang="en-US" sz="13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El F1 macro (0,8694) queda muy cerca del objetivo de 0,88.</a:t>
            </a:r>
            <a:br>
              <a:rPr b="0" i="0" lang="en-US" sz="13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El resultado confirma que la evaluación sobre datos no vistos es más exigente que el rendimiento observado durante el entrenamiento.</a:t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7360920" y="3456432"/>
            <a:ext cx="4297680" cy="196596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7360920" y="3456432"/>
            <a:ext cx="54864" cy="1965960"/>
          </a:xfrm>
          <a:prstGeom prst="rect">
            <a:avLst/>
          </a:prstGeom>
          <a:solidFill>
            <a:srgbClr val="EFA3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 txBox="1"/>
          <p:nvPr/>
        </p:nvSpPr>
        <p:spPr>
          <a:xfrm>
            <a:off x="7562088" y="362102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KPI de latencia</a:t>
            </a:r>
            <a:endParaRPr/>
          </a:p>
        </p:txBody>
      </p:sp>
      <p:sp>
        <p:nvSpPr>
          <p:cNvPr id="360" name="Google Shape;360;p9"/>
          <p:cNvSpPr txBox="1"/>
          <p:nvPr/>
        </p:nvSpPr>
        <p:spPr>
          <a:xfrm>
            <a:off x="7562088" y="4023359"/>
            <a:ext cx="3913632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El informe define &lt; 10 ms por muestra, pero el notebook no registra una medición específica de inferencia. Por lo tanto, este KPI no puede darse por cumplido con la evidencia disponible.</a:t>
            </a:r>
            <a:endParaRPr/>
          </a:p>
        </p:txBody>
      </p:sp>
      <p:sp>
        <p:nvSpPr>
          <p:cNvPr id="361" name="Google Shape;361;p9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362" name="Google Shape;362;p9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"/>
          <p:cNvSpPr/>
          <p:nvPr/>
        </p:nvSpPr>
        <p:spPr>
          <a:xfrm>
            <a:off x="6172200" y="1622729"/>
            <a:ext cx="5440680" cy="3566822"/>
          </a:xfrm>
          <a:prstGeom prst="rect">
            <a:avLst/>
          </a:prstGeom>
          <a:noFill/>
          <a:ln cap="flat" cmpd="sng" w="10150">
            <a:solidFill>
              <a:srgbClr val="4652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559411" y="1325880"/>
            <a:ext cx="5373417" cy="4160520"/>
          </a:xfrm>
          <a:prstGeom prst="rect">
            <a:avLst/>
          </a:prstGeom>
          <a:noFill/>
          <a:ln cap="flat" cmpd="sng" w="10150">
            <a:solidFill>
              <a:srgbClr val="4652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9. Matriz de confusión y errores</a:t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bimg_9.png" id="372" name="Google Shape;3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411" y="1325880"/>
            <a:ext cx="5373417" cy="416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bimg_12.png" id="373" name="Google Shape;37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622729"/>
            <a:ext cx="5440680" cy="356682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0"/>
          <p:cNvSpPr txBox="1"/>
          <p:nvPr/>
        </p:nvSpPr>
        <p:spPr>
          <a:xfrm>
            <a:off x="640080" y="5532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Qué nos dice la matriz</a:t>
            </a:r>
            <a:endParaRPr/>
          </a:p>
        </p:txBody>
      </p:sp>
      <p:sp>
        <p:nvSpPr>
          <p:cNvPr id="375" name="Google Shape;375;p10"/>
          <p:cNvSpPr txBox="1"/>
          <p:nvPr/>
        </p:nvSpPr>
        <p:spPr>
          <a:xfrm>
            <a:off x="640080" y="5870448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La diagonal representa aciertos; fuera de ella aparecen las confusiones entre letras. El análisis evidencia que algunas configuraciones manuales son más difíciles de separar para el MLP.</a:t>
            </a:r>
            <a:endParaRPr/>
          </a:p>
        </p:txBody>
      </p:sp>
      <p:sp>
        <p:nvSpPr>
          <p:cNvPr id="376" name="Google Shape;376;p10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377" name="Google Shape;377;p10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"/>
          <p:cNvSpPr/>
          <p:nvPr/>
        </p:nvSpPr>
        <p:spPr>
          <a:xfrm>
            <a:off x="-14216" y="0"/>
            <a:ext cx="12191700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10. Desempeño por clase</a:t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594360" y="1417320"/>
            <a:ext cx="1005840" cy="502920"/>
          </a:xfrm>
          <a:prstGeom prst="rect">
            <a:avLst/>
          </a:prstGeom>
          <a:solidFill>
            <a:srgbClr val="1C273A"/>
          </a:solidFill>
          <a:ln cap="flat" cmpd="sng" w="9525">
            <a:solidFill>
              <a:srgbClr val="3C4A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667512" y="1527048"/>
            <a:ext cx="8595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1600200" y="1417320"/>
            <a:ext cx="1417320" cy="502920"/>
          </a:xfrm>
          <a:prstGeom prst="rect">
            <a:avLst/>
          </a:prstGeom>
          <a:solidFill>
            <a:srgbClr val="1C273A"/>
          </a:solidFill>
          <a:ln cap="flat" cmpd="sng" w="9525">
            <a:solidFill>
              <a:srgbClr val="3C4A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1673352" y="1527048"/>
            <a:ext cx="12710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3017520" y="1417320"/>
            <a:ext cx="1417320" cy="502920"/>
          </a:xfrm>
          <a:prstGeom prst="rect">
            <a:avLst/>
          </a:prstGeom>
          <a:solidFill>
            <a:srgbClr val="1C273A"/>
          </a:solidFill>
          <a:ln cap="flat" cmpd="sng" w="9525">
            <a:solidFill>
              <a:srgbClr val="3C4A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3090672" y="1527048"/>
            <a:ext cx="12710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4434840" y="1417320"/>
            <a:ext cx="1417320" cy="502920"/>
          </a:xfrm>
          <a:prstGeom prst="rect">
            <a:avLst/>
          </a:prstGeom>
          <a:solidFill>
            <a:srgbClr val="1C273A"/>
          </a:solidFill>
          <a:ln cap="flat" cmpd="sng" w="9525">
            <a:solidFill>
              <a:srgbClr val="3C4A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4507992" y="1527048"/>
            <a:ext cx="12710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5852159" y="1417320"/>
            <a:ext cx="5669280" cy="502920"/>
          </a:xfrm>
          <a:prstGeom prst="rect">
            <a:avLst/>
          </a:prstGeom>
          <a:solidFill>
            <a:srgbClr val="1C273A"/>
          </a:solidFill>
          <a:ln cap="flat" cmpd="sng" w="9525">
            <a:solidFill>
              <a:srgbClr val="3C4A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5925312" y="1527048"/>
            <a:ext cx="552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Lectura</a:t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594360" y="1947672"/>
            <a:ext cx="100584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667512" y="2103120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1600200" y="1947672"/>
            <a:ext cx="141732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1673352" y="2103120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1,0000</a:t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3017520" y="1947672"/>
            <a:ext cx="141732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 txBox="1"/>
          <p:nvPr/>
        </p:nvSpPr>
        <p:spPr>
          <a:xfrm>
            <a:off x="3090672" y="2103120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1,0000</a:t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4434840" y="1947672"/>
            <a:ext cx="141732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 txBox="1"/>
          <p:nvPr/>
        </p:nvSpPr>
        <p:spPr>
          <a:xfrm>
            <a:off x="4507992" y="2103120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1,0000</a:t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5852159" y="1947672"/>
            <a:ext cx="566928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 txBox="1"/>
          <p:nvPr/>
        </p:nvSpPr>
        <p:spPr>
          <a:xfrm>
            <a:off x="5925312" y="2103120"/>
            <a:ext cx="5522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Excelente</a:t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594360" y="2606039"/>
            <a:ext cx="100584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 txBox="1"/>
          <p:nvPr/>
        </p:nvSpPr>
        <p:spPr>
          <a:xfrm>
            <a:off x="667512" y="2761487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1600200" y="2606039"/>
            <a:ext cx="141732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 txBox="1"/>
          <p:nvPr/>
        </p:nvSpPr>
        <p:spPr>
          <a:xfrm>
            <a:off x="1673352" y="2761487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0,9325</a:t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3017520" y="2606039"/>
            <a:ext cx="141732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 txBox="1"/>
          <p:nvPr/>
        </p:nvSpPr>
        <p:spPr>
          <a:xfrm>
            <a:off x="3090672" y="2761487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0,9806</a:t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4434840" y="2606039"/>
            <a:ext cx="141732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 txBox="1"/>
          <p:nvPr/>
        </p:nvSpPr>
        <p:spPr>
          <a:xfrm>
            <a:off x="4507992" y="2761487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0,9560</a:t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5852159" y="2606039"/>
            <a:ext cx="566928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5925312" y="2761487"/>
            <a:ext cx="5522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Muy alto</a:t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594360" y="3264408"/>
            <a:ext cx="100584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 txBox="1"/>
          <p:nvPr/>
        </p:nvSpPr>
        <p:spPr>
          <a:xfrm>
            <a:off x="667512" y="3419856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1600200" y="3264408"/>
            <a:ext cx="141732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 txBox="1"/>
          <p:nvPr/>
        </p:nvSpPr>
        <p:spPr>
          <a:xfrm>
            <a:off x="1673352" y="3419856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0,7244</a:t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3017520" y="3264408"/>
            <a:ext cx="141732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 txBox="1"/>
          <p:nvPr/>
        </p:nvSpPr>
        <p:spPr>
          <a:xfrm>
            <a:off x="3090672" y="3419856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0,9150</a:t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4434840" y="3264408"/>
            <a:ext cx="141732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 txBox="1"/>
          <p:nvPr/>
        </p:nvSpPr>
        <p:spPr>
          <a:xfrm>
            <a:off x="4507992" y="3419856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0,8086</a:t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5852159" y="3264408"/>
            <a:ext cx="566928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 txBox="1"/>
          <p:nvPr/>
        </p:nvSpPr>
        <p:spPr>
          <a:xfrm>
            <a:off x="5925312" y="3419856"/>
            <a:ext cx="5522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Recall alto; más falsos positivos</a:t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594360" y="3922776"/>
            <a:ext cx="100584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 txBox="1"/>
          <p:nvPr/>
        </p:nvSpPr>
        <p:spPr>
          <a:xfrm>
            <a:off x="667512" y="4078224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1600200" y="3922776"/>
            <a:ext cx="141732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 txBox="1"/>
          <p:nvPr/>
        </p:nvSpPr>
        <p:spPr>
          <a:xfrm>
            <a:off x="1673352" y="4078224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0,8487</a:t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3017520" y="3922776"/>
            <a:ext cx="141732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 txBox="1"/>
          <p:nvPr/>
        </p:nvSpPr>
        <p:spPr>
          <a:xfrm>
            <a:off x="3090672" y="4078224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0,7795</a:t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4434840" y="3922776"/>
            <a:ext cx="141732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 txBox="1"/>
          <p:nvPr/>
        </p:nvSpPr>
        <p:spPr>
          <a:xfrm>
            <a:off x="4507992" y="4078224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0,8126</a:t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5852159" y="3922776"/>
            <a:ext cx="566928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 txBox="1"/>
          <p:nvPr/>
        </p:nvSpPr>
        <p:spPr>
          <a:xfrm>
            <a:off x="5925312" y="4078224"/>
            <a:ext cx="5522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Confusiones relevantes</a:t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594360" y="4581144"/>
            <a:ext cx="100584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 txBox="1"/>
          <p:nvPr/>
        </p:nvSpPr>
        <p:spPr>
          <a:xfrm>
            <a:off x="667512" y="4736592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1600200" y="4581144"/>
            <a:ext cx="141732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 txBox="1"/>
          <p:nvPr/>
        </p:nvSpPr>
        <p:spPr>
          <a:xfrm>
            <a:off x="1673352" y="4736592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1,0000</a:t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3017520" y="4581144"/>
            <a:ext cx="141732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 txBox="1"/>
          <p:nvPr/>
        </p:nvSpPr>
        <p:spPr>
          <a:xfrm>
            <a:off x="3090672" y="4736592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0,7846</a:t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4434840" y="4581144"/>
            <a:ext cx="141732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4507992" y="4736592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0,8793</a:t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5852159" y="4581144"/>
            <a:ext cx="5669280" cy="621792"/>
          </a:xfrm>
          <a:prstGeom prst="rect">
            <a:avLst/>
          </a:prstGeom>
          <a:solidFill>
            <a:srgbClr val="192231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5925312" y="4736592"/>
            <a:ext cx="5522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Precision perfecta; recall menor</a:t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594360" y="5239512"/>
            <a:ext cx="100584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 txBox="1"/>
          <p:nvPr/>
        </p:nvSpPr>
        <p:spPr>
          <a:xfrm>
            <a:off x="667512" y="5394959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1600200" y="5239512"/>
            <a:ext cx="141732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 txBox="1"/>
          <p:nvPr/>
        </p:nvSpPr>
        <p:spPr>
          <a:xfrm>
            <a:off x="1673352" y="5394959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0,7613</a:t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3017520" y="5239512"/>
            <a:ext cx="141732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 txBox="1"/>
          <p:nvPr/>
        </p:nvSpPr>
        <p:spPr>
          <a:xfrm>
            <a:off x="3090672" y="5394959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0,7590</a:t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4434840" y="5239512"/>
            <a:ext cx="141732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 txBox="1"/>
          <p:nvPr/>
        </p:nvSpPr>
        <p:spPr>
          <a:xfrm>
            <a:off x="4507992" y="5394959"/>
            <a:ext cx="1271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0,7602</a:t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5852159" y="5239512"/>
            <a:ext cx="5669280" cy="621792"/>
          </a:xfrm>
          <a:prstGeom prst="rect">
            <a:avLst/>
          </a:prstGeom>
          <a:solidFill>
            <a:srgbClr val="121926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 txBox="1"/>
          <p:nvPr/>
        </p:nvSpPr>
        <p:spPr>
          <a:xfrm>
            <a:off x="5925312" y="5394959"/>
            <a:ext cx="5522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Clase más desafiante</a:t>
            </a:r>
            <a:endParaRPr/>
          </a:p>
        </p:txBody>
      </p:sp>
      <p:sp>
        <p:nvSpPr>
          <p:cNvPr id="455" name="Google Shape;455;p11"/>
          <p:cNvSpPr txBox="1"/>
          <p:nvPr/>
        </p:nvSpPr>
        <p:spPr>
          <a:xfrm>
            <a:off x="685800" y="5897880"/>
            <a:ext cx="10789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Accuracy global: 87,03%   |   Precision: 0,8778   |   Recall: 0,8698   |   F1: 0,8694</a:t>
            </a:r>
            <a:endParaRPr/>
          </a:p>
        </p:txBody>
      </p:sp>
      <p:sp>
        <p:nvSpPr>
          <p:cNvPr id="456" name="Google Shape;456;p11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457" name="Google Shape;457;p11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11. Conclusiones y trabajo futuro</a:t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594360" y="932688"/>
            <a:ext cx="1051560" cy="50292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94360" y="1417320"/>
            <a:ext cx="3520440" cy="361188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594360" y="1417320"/>
            <a:ext cx="54864" cy="3611880"/>
          </a:xfrm>
          <a:prstGeom prst="rect">
            <a:avLst/>
          </a:prstGeom>
          <a:solidFill>
            <a:srgbClr val="36C2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795528" y="158191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  <p:sp>
        <p:nvSpPr>
          <p:cNvPr id="468" name="Google Shape;468;p12"/>
          <p:cNvSpPr txBox="1"/>
          <p:nvPr/>
        </p:nvSpPr>
        <p:spPr>
          <a:xfrm>
            <a:off x="795528" y="1984248"/>
            <a:ext cx="3136392" cy="2898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• Se construyó un pipeline reproducible con SEED=42.</a:t>
            </a: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• El MLP 784→128→64→6 es suficiente para el MVP de seis clases.</a:t>
            </a: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• El conjunto está equilibrado y no presentó valores faltantes.</a:t>
            </a: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• El test revela 87,03% de accuracy y F1 macro 0,8694.</a:t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4315968" y="1417320"/>
            <a:ext cx="3520500" cy="361200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4315968" y="1417320"/>
            <a:ext cx="54864" cy="3611880"/>
          </a:xfrm>
          <a:prstGeom prst="rect">
            <a:avLst/>
          </a:prstGeom>
          <a:solidFill>
            <a:srgbClr val="EFA3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 txBox="1"/>
          <p:nvPr/>
        </p:nvSpPr>
        <p:spPr>
          <a:xfrm>
            <a:off x="4517136" y="158191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/>
          </a:p>
        </p:txBody>
      </p:sp>
      <p:sp>
        <p:nvSpPr>
          <p:cNvPr id="472" name="Google Shape;472;p12"/>
          <p:cNvSpPr txBox="1"/>
          <p:nvPr/>
        </p:nvSpPr>
        <p:spPr>
          <a:xfrm>
            <a:off x="4517136" y="1984248"/>
            <a:ext cx="3136392" cy="2898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• El MLP pierde información espacial al tratar cada píxel como característica independiente.</a:t>
            </a: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• El dataset puede producir resultados más optimistas que fotografías tomadas en condiciones reales.</a:t>
            </a: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• No se midió de forma explícita la latencia de inferencia.</a:t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8037575" y="1417320"/>
            <a:ext cx="3520440" cy="3611880"/>
          </a:xfrm>
          <a:prstGeom prst="roundRect">
            <a:avLst>
              <a:gd fmla="val 16667" name="adj"/>
            </a:avLst>
          </a:prstGeom>
          <a:solidFill>
            <a:srgbClr val="1C273A"/>
          </a:solidFill>
          <a:ln cap="flat" cmpd="sng" w="9525">
            <a:solidFill>
              <a:srgbClr val="313F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8037575" y="1417320"/>
            <a:ext cx="54864" cy="3611880"/>
          </a:xfrm>
          <a:prstGeom prst="rect">
            <a:avLst/>
          </a:prstGeom>
          <a:solidFill>
            <a:srgbClr val="4ABE8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 txBox="1"/>
          <p:nvPr/>
        </p:nvSpPr>
        <p:spPr>
          <a:xfrm>
            <a:off x="8238744" y="158191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Siguiente paso</a:t>
            </a:r>
            <a:endParaRPr/>
          </a:p>
        </p:txBody>
      </p:sp>
      <p:sp>
        <p:nvSpPr>
          <p:cNvPr id="476" name="Google Shape;476;p12"/>
          <p:cNvSpPr txBox="1"/>
          <p:nvPr/>
        </p:nvSpPr>
        <p:spPr>
          <a:xfrm>
            <a:off x="8238744" y="1984248"/>
            <a:ext cx="31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0" i="0" lang="en-US" sz="12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 Ampliar progresivamente desde 6 a las 24 clases del dataset.</a:t>
            </a:r>
            <a:endParaRPr/>
          </a:p>
        </p:txBody>
      </p:sp>
      <p:sp>
        <p:nvSpPr>
          <p:cNvPr id="477" name="Google Shape;477;p12"/>
          <p:cNvSpPr txBox="1"/>
          <p:nvPr/>
        </p:nvSpPr>
        <p:spPr>
          <a:xfrm>
            <a:off x="594360" y="5440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Idea central</a:t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1874519" y="5394960"/>
            <a:ext cx="9326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El proyecto demuestra un clasificador funcional y reproducible, pero los resultados de test muestran un margen claro para mejorar la generalización.</a:t>
            </a:r>
            <a:endParaRPr/>
          </a:p>
        </p:txBody>
      </p:sp>
      <p:sp>
        <p:nvSpPr>
          <p:cNvPr id="479" name="Google Shape;479;p12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Técnicas Avanzadas de Machine Learning  •  Evaluación N°1</a:t>
            </a:r>
            <a:endParaRPr/>
          </a:p>
        </p:txBody>
      </p:sp>
      <p:sp>
        <p:nvSpPr>
          <p:cNvPr id="480" name="Google Shape;480;p12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 txBox="1"/>
          <p:nvPr/>
        </p:nvSpPr>
        <p:spPr>
          <a:xfrm>
            <a:off x="731520" y="205740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  <p:sp>
        <p:nvSpPr>
          <p:cNvPr id="487" name="Google Shape;487;p13"/>
          <p:cNvSpPr txBox="1"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6C2DC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endParaRPr/>
          </a:p>
        </p:txBody>
      </p:sp>
      <p:sp>
        <p:nvSpPr>
          <p:cNvPr id="488" name="Google Shape;488;p13"/>
          <p:cNvSpPr txBox="1"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Clasificación de Lenguaje de Señas mediante MLP</a:t>
            </a:r>
            <a:endParaRPr/>
          </a:p>
        </p:txBody>
      </p:sp>
      <p:sp>
        <p:nvSpPr>
          <p:cNvPr id="489" name="Google Shape;489;p13"/>
          <p:cNvSpPr txBox="1"/>
          <p:nvPr/>
        </p:nvSpPr>
        <p:spPr>
          <a:xfrm>
            <a:off x="731520" y="48006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Nicolás Fernandez  •  Bastian Gutierrez  •  Victor Gutierrez</a:t>
            </a:r>
            <a:endParaRPr/>
          </a:p>
        </p:txBody>
      </p:sp>
      <p:sp>
        <p:nvSpPr>
          <p:cNvPr id="490" name="Google Shape;490;p13"/>
          <p:cNvSpPr txBox="1"/>
          <p:nvPr/>
        </p:nvSpPr>
        <p:spPr>
          <a:xfrm>
            <a:off x="731520" y="5166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EBACA"/>
                </a:solidFill>
                <a:latin typeface="Arial"/>
                <a:ea typeface="Arial"/>
                <a:cs typeface="Arial"/>
                <a:sym typeface="Arial"/>
              </a:rPr>
              <a:t>Docente: Jazna Hidalgo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